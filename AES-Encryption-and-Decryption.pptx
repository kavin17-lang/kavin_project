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chivo Black"/>
      <p:regular r:id="rId201314"/>
    </p:embeddedFont>
    <p:embeddedFont>
      <p:font typeface="Familjen Grotesk"/>
      <p:regular r:id="rId201315"/>
    </p:embeddedFont>
    <p:embeddedFont>
      <p:font typeface="Familjen Grotesk SemiBold"/>
      <p:regular r:id="rId201316"/>
    </p:embeddedFont>
    <p:embeddedFont>
      <p:font typeface="Familjen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6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6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3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58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3074670"/>
            <a:ext cx="825479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CYBERSECURITY · TECHNICAL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1981" y="3388066"/>
            <a:ext cx="7645209" cy="1289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5400" spc="-108" kern="1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AES ENCRYPTION</a:t>
            </a:r>
            <a:endParaRPr lang="en-US" sz="54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5400" spc="-108" kern="1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AND DECRYPTION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61981" y="4900910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5" name="Text 3"/>
          <p:cNvSpPr/>
          <p:nvPr/>
        </p:nvSpPr>
        <p:spPr>
          <a:xfrm>
            <a:off x="908722" y="4911229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390814" y="4823281"/>
            <a:ext cx="7016376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From readable input to protected output, and back again.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1790" y="407670"/>
            <a:ext cx="304792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GENERAL AES WORKFLOW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1026"/>
            <a:ext cx="3251119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WHY PROTECTING DATA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406390" y="2090103"/>
            <a:ext cx="325111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Encryption keeps readable information from becoming an exposed copy.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3387527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5" name="Text 3"/>
          <p:cNvSpPr/>
          <p:nvPr/>
        </p:nvSpPr>
        <p:spPr>
          <a:xfrm>
            <a:off x="553131" y="3397845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35223" y="3309898"/>
            <a:ext cx="262228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Plaintext is readable and exposed if stored or transmitted without protection.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6390" y="4718248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8" name="Text 6"/>
          <p:cNvSpPr/>
          <p:nvPr/>
        </p:nvSpPr>
        <p:spPr>
          <a:xfrm>
            <a:off x="553131" y="4728567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5223" y="4640620"/>
            <a:ext cx="262228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Encryption converts plaintext into ciphertext using a secret key.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390" y="5754390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11" name="Text 9"/>
          <p:cNvSpPr/>
          <p:nvPr/>
        </p:nvSpPr>
        <p:spPr>
          <a:xfrm>
            <a:off x="553131" y="5764709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35223" y="5676761"/>
            <a:ext cx="262228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Decryption reverses the process for an authorized user.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3898" y="0"/>
            <a:ext cx="8127797" cy="6858000"/>
          </a:xfrm>
          <a:prstGeom prst="rect">
            <a:avLst/>
          </a:prstGeom>
          <a:solidFill>
            <a:srgbClr val="0B6369"/>
          </a:solidFill>
          <a:ln/>
        </p:spPr>
      </p:sp>
      <p:sp>
        <p:nvSpPr>
          <p:cNvPr id="14" name="Text 12"/>
          <p:cNvSpPr/>
          <p:nvPr/>
        </p:nvSpPr>
        <p:spPr>
          <a:xfrm>
            <a:off x="4495688" y="509270"/>
            <a:ext cx="769600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THE CONTROL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95688" y="2650275"/>
            <a:ext cx="7264218" cy="644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5400" spc="-108" kern="1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CONFIDENTIALITY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495688" y="3440867"/>
            <a:ext cx="769600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Protect the message while it is stored or moving between systems.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5688" y="3961507"/>
            <a:ext cx="2397065" cy="69751"/>
          </a:xfrm>
          <a:prstGeom prst="roundRect">
            <a:avLst>
              <a:gd name="adj" fmla="val 49999"/>
            </a:avLst>
          </a:prstGeom>
          <a:solidFill>
            <a:srgbClr val="F4EFE1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688" y="4282817"/>
            <a:ext cx="7696007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THIS PROJECT EXPLAINS THE WORKFLOW AND CONNECTS IT TO THE APPLICATION.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826"/>
            <a:ext cx="1097252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AES IS A SYMMETRIC BLOCK CIPHER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121380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One secret key, a fixed block size, and a matching operation on both sides.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1704280"/>
            <a:ext cx="3657509" cy="1772741"/>
          </a:xfrm>
          <a:prstGeom prst="rect">
            <a:avLst/>
          </a:prstGeom>
          <a:solidFill>
            <a:srgbClr val="F4EFE1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1934151"/>
            <a:ext cx="3403515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SYMMETRIC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3578" y="2200473"/>
            <a:ext cx="314952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Same secret key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78" y="2666564"/>
            <a:ext cx="314952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key used to encrypt is also required to decrypt.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093" y="1704280"/>
            <a:ext cx="3657509" cy="1772741"/>
          </a:xfrm>
          <a:prstGeom prst="rect">
            <a:avLst/>
          </a:prstGeom>
          <a:solidFill>
            <a:srgbClr val="F4EFE1"/>
          </a:solidFill>
          <a:ln/>
        </p:spPr>
      </p:sp>
      <p:sp>
        <p:nvSpPr>
          <p:cNvPr id="9" name="Text 7"/>
          <p:cNvSpPr/>
          <p:nvPr/>
        </p:nvSpPr>
        <p:spPr>
          <a:xfrm>
            <a:off x="4521087" y="1934151"/>
            <a:ext cx="3403515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KEY SIZES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1087" y="2200473"/>
            <a:ext cx="314952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AES-128 · 192 · 256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1087" y="2666564"/>
            <a:ext cx="314952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standard defines three key-size variants.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24602" y="1704280"/>
            <a:ext cx="3657509" cy="1772741"/>
          </a:xfrm>
          <a:prstGeom prst="rect">
            <a:avLst/>
          </a:prstGeom>
          <a:solidFill>
            <a:srgbClr val="F4EFE1"/>
          </a:solidFill>
          <a:ln/>
        </p:spPr>
      </p:sp>
      <p:sp>
        <p:nvSpPr>
          <p:cNvPr id="13" name="Text 11"/>
          <p:cNvSpPr/>
          <p:nvPr/>
        </p:nvSpPr>
        <p:spPr>
          <a:xfrm>
            <a:off x="8178595" y="1934151"/>
            <a:ext cx="3403515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BLOCK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78595" y="2200473"/>
            <a:ext cx="314952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128-bit blocks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78595" y="2666564"/>
            <a:ext cx="314952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Each AES variant operates on 128-bit blocks.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3679269"/>
            <a:ext cx="10972526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THE FINAL APPLICATION MUST VERIFY ITS KEY SIZE AND OPERATING MODE. THIS DECK EXPLAINS THE GENERAL AES WORKFLOW, NOT AN UNVERIFIED IMPLEMENTATION DETAIL.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60743" y="1704280"/>
            <a:ext cx="12700" cy="1772741"/>
          </a:xfrm>
          <a:prstGeom prst="rect">
            <a:avLst/>
          </a:prstGeom>
          <a:solidFill>
            <a:srgbClr val="03343B"/>
          </a:solidFill>
          <a:ln/>
        </p:spPr>
      </p:sp>
      <p:sp>
        <p:nvSpPr>
          <p:cNvPr id="18" name="Shape 16"/>
          <p:cNvSpPr/>
          <p:nvPr/>
        </p:nvSpPr>
        <p:spPr>
          <a:xfrm>
            <a:off x="7918252" y="1704280"/>
            <a:ext cx="12700" cy="1772741"/>
          </a:xfrm>
          <a:prstGeom prst="rect">
            <a:avLst/>
          </a:prstGeom>
          <a:solidFill>
            <a:srgbClr val="03343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826"/>
            <a:ext cx="1097252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F1ECDC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THE GENERAL AES WORKFLOW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121380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protected result depends on the input, the key, and the parameters used by the operation.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1653480"/>
            <a:ext cx="8399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1937941"/>
            <a:ext cx="1950592" cy="1905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096453"/>
            <a:ext cx="195059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Plaintext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9585" y="2504539"/>
            <a:ext cx="195059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Start with readable text or file data.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4969" y="1653480"/>
            <a:ext cx="8399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4969" y="1937941"/>
            <a:ext cx="1950592" cy="1905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2096453"/>
            <a:ext cx="195069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Key + parameters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864969" y="2504539"/>
            <a:ext cx="195069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Prepare the secret key and required values.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452" y="1653480"/>
            <a:ext cx="8399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452" y="1937941"/>
            <a:ext cx="1950592" cy="1905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452" y="2096453"/>
            <a:ext cx="195069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AES operation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120452" y="2504539"/>
            <a:ext cx="195069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Apply the selected encryption process.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5936" y="1653480"/>
            <a:ext cx="8399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75936" y="1937941"/>
            <a:ext cx="1950592" cy="1905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2096453"/>
            <a:ext cx="195069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Ciphertext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75936" y="2504539"/>
            <a:ext cx="195069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Produce protected output for storage or transmission.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31419" y="1653480"/>
            <a:ext cx="8399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31419" y="1937941"/>
            <a:ext cx="1950592" cy="1905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419" y="2096453"/>
            <a:ext cx="1950691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Decrypt + verify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31419" y="2504539"/>
            <a:ext cx="1950691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Use matching inputs to recover the original.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3583226"/>
            <a:ext cx="1158211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CFE2E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THE REVERSE PATH IS NOT A SEPARATE SECRET: IT IS THE MATCHING OPERATION WITH THE SAME REQUIRED INPUTS.</a:t>
            </a:r>
            <a:endParaRPr lang="en-US" sz="11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29300"/>
            <a:ext cx="12191695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826"/>
            <a:ext cx="1097252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F1ECDC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ENCRYPTION: PLAINTEXT BECOMES CIPHERTEXT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1300143"/>
            <a:ext cx="350511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1ECDC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ENCRYPTION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566466"/>
            <a:ext cx="35051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Protect the bytes before they leave the application.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355453"/>
            <a:ext cx="3505112" cy="2771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application accepts text or file data, represents it as bytes, supplies a secret key, and passes the input to the AES routine.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result is ciphertext that should not reveal the original message. Store or transmit the protected result together with the parameters needed for valid recovery.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75081" y="2144911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7" name="Text 5"/>
          <p:cNvSpPr/>
          <p:nvPr/>
        </p:nvSpPr>
        <p:spPr>
          <a:xfrm>
            <a:off x="4921821" y="2155230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1886" y="2393652"/>
            <a:ext cx="1752556" cy="3810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9" name="Text 7"/>
          <p:cNvSpPr/>
          <p:nvPr/>
        </p:nvSpPr>
        <p:spPr>
          <a:xfrm>
            <a:off x="4775081" y="2525574"/>
            <a:ext cx="134616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Input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775081" y="2933660"/>
            <a:ext cx="134616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Plaintext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or file bytes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27637" y="2144911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4378" y="2155230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4442" y="2393652"/>
            <a:ext cx="1752556" cy="3810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4" name="Text 12"/>
          <p:cNvSpPr/>
          <p:nvPr/>
        </p:nvSpPr>
        <p:spPr>
          <a:xfrm>
            <a:off x="6527637" y="2525574"/>
            <a:ext cx="134616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Protect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27637" y="2933660"/>
            <a:ext cx="134616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Secret key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+ AES routine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0193" y="2144911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17" name="Text 15"/>
          <p:cNvSpPr/>
          <p:nvPr/>
        </p:nvSpPr>
        <p:spPr>
          <a:xfrm>
            <a:off x="8426934" y="2155230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6998" y="2393652"/>
            <a:ext cx="1752556" cy="3810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9" name="Text 17"/>
          <p:cNvSpPr/>
          <p:nvPr/>
        </p:nvSpPr>
        <p:spPr>
          <a:xfrm>
            <a:off x="8280193" y="2525574"/>
            <a:ext cx="134616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1ECDC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Output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80193" y="2933660"/>
            <a:ext cx="134616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Ciphertext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for storage or transfer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1886" y="4152047"/>
            <a:ext cx="7010225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CFE2E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THE SELECTED MODE MAY ALSO REQUIRE AN INITIALIZATION VALUE OR NONCE. DO NOT ASSUME WHICH ONE UNTIL THE FINAL APPLICATION IS VERIFIED.</a:t>
            </a:r>
            <a:endParaRPr lang="en-US" sz="11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29300"/>
            <a:ext cx="12191695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85026"/>
            <a:ext cx="665463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DECRYPTION: CIPHERTEXT RETURNS TO PLAINTEXT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8786" y="1556703"/>
            <a:ext cx="716262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Recovery succeeds only when the required inputs match.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6582" y="2199580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5" name="Text 3"/>
          <p:cNvSpPr/>
          <p:nvPr/>
        </p:nvSpPr>
        <p:spPr>
          <a:xfrm>
            <a:off x="883322" y="2209899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8786" y="2448322"/>
            <a:ext cx="1663658" cy="3810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7" name="Text 5"/>
          <p:cNvSpPr/>
          <p:nvPr/>
        </p:nvSpPr>
        <p:spPr>
          <a:xfrm>
            <a:off x="736582" y="2580243"/>
            <a:ext cx="130806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Ciphertext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6582" y="2988330"/>
            <a:ext cx="130806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Protected input arrives.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0240" y="2199580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10" name="Text 8"/>
          <p:cNvSpPr/>
          <p:nvPr/>
        </p:nvSpPr>
        <p:spPr>
          <a:xfrm>
            <a:off x="2546981" y="2209899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22444" y="2448322"/>
            <a:ext cx="1663658" cy="3810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2" name="Text 10"/>
          <p:cNvSpPr/>
          <p:nvPr/>
        </p:nvSpPr>
        <p:spPr>
          <a:xfrm>
            <a:off x="2400240" y="2580243"/>
            <a:ext cx="1308067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Matching inputs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400240" y="3260685"/>
            <a:ext cx="1308067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Key and mode-specific parameters are available.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3898" y="2199580"/>
            <a:ext cx="425638" cy="167481"/>
          </a:xfrm>
          <a:prstGeom prst="roundRect">
            <a:avLst>
              <a:gd name="adj" fmla="val 49999"/>
            </a:avLst>
          </a:prstGeom>
          <a:solidFill>
            <a:srgbClr val="F5892A"/>
          </a:solidFill>
          <a:ln/>
        </p:spPr>
      </p:sp>
      <p:sp>
        <p:nvSpPr>
          <p:cNvPr id="15" name="Text 13"/>
          <p:cNvSpPr/>
          <p:nvPr/>
        </p:nvSpPr>
        <p:spPr>
          <a:xfrm>
            <a:off x="4210639" y="2209899"/>
            <a:ext cx="74174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F5892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86103" y="2448322"/>
            <a:ext cx="1663658" cy="38100"/>
          </a:xfrm>
          <a:prstGeom prst="rect">
            <a:avLst/>
          </a:prstGeom>
          <a:solidFill>
            <a:srgbClr val="F5892A"/>
          </a:solidFill>
          <a:ln/>
        </p:spPr>
      </p:sp>
      <p:sp>
        <p:nvSpPr>
          <p:cNvPr id="17" name="Text 15"/>
          <p:cNvSpPr/>
          <p:nvPr/>
        </p:nvSpPr>
        <p:spPr>
          <a:xfrm>
            <a:off x="4063898" y="2580243"/>
            <a:ext cx="1308067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Restore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063898" y="2988330"/>
            <a:ext cx="1308067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Successful decryption returns the original plaintext.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786" y="4833977"/>
            <a:ext cx="7162621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WRONG KEYS OR ALTERED DATA SHOULD FAIL OR PRODUCE UNUSABLE OUTPUT.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B6369"/>
          </a:solidFill>
          <a:ln/>
        </p:spPr>
      </p:sp>
      <p:sp>
        <p:nvSpPr>
          <p:cNvPr id="21" name="Text 19"/>
          <p:cNvSpPr/>
          <p:nvPr/>
        </p:nvSpPr>
        <p:spPr>
          <a:xfrm>
            <a:off x="8178595" y="560070"/>
            <a:ext cx="401310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PROJECT EVIDENCE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78595" y="826393"/>
            <a:ext cx="355591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Insert actual decryption screenshot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78595" y="1622683"/>
            <a:ext cx="355591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Reserved space for confirmed project evidence. Do not substitute a fabricated interface or output.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78595" y="2732484"/>
            <a:ext cx="3555812" cy="31651"/>
          </a:xfrm>
          <a:prstGeom prst="roundRect">
            <a:avLst>
              <a:gd name="adj" fmla="val 49998"/>
            </a:avLst>
          </a:prstGeom>
          <a:solidFill>
            <a:srgbClr val="F4EFE1"/>
          </a:solidFill>
          <a:ln/>
        </p:spPr>
      </p:sp>
      <p:sp>
        <p:nvSpPr>
          <p:cNvPr id="25" name="Text 23"/>
          <p:cNvSpPr/>
          <p:nvPr/>
        </p:nvSpPr>
        <p:spPr>
          <a:xfrm>
            <a:off x="8178595" y="3015694"/>
            <a:ext cx="3555911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VERIFY THE SCREENSHOT AGAINST THE FINAL APPLICATION BEFORE SUBMISSION.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826"/>
            <a:ext cx="1097252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F1ECDC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APPLICATION ARCHITECTURE AND DATA FLOW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121380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1ECDC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interface, key handling, AES layer, and output path form one connected system.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85230"/>
            <a:ext cx="10413739" cy="37967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804833"/>
            <a:ext cx="11582110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92" kern="100" dirty="0">
                <a:solidFill>
                  <a:srgbClr val="CFE2E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PROJECT-SPECIFIC IMPLEMENTATION DETAILS REMAIN SUBJECT TO VERIFICATION. INSERT AN ACTUAL PROJECT SCREENSHOT IF AVAILABLE.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1555"/>
            <a:ext cx="12191695" cy="294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84084"/>
            <a:ext cx="10972526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TESTING THE IMPLEMENTATION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2362061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A useful test proves the round trip, then checks how the application behaves when inputs are wrong.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2833489"/>
            <a:ext cx="5333867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Encrypt a known plaintext and record the ciphertext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Decrypt the ciphertext with the matching key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Confirm the recovered plaintext matches the original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48244" y="2833489"/>
            <a:ext cx="5333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Test incorrect keys and malformed inputs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Test empty, short, and longer inputs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4002980"/>
            <a:ext cx="10972526" cy="1097161"/>
          </a:xfrm>
          <a:prstGeom prst="roundRect">
            <a:avLst>
              <a:gd name="adj" fmla="val 2778"/>
            </a:avLst>
          </a:prstGeom>
          <a:solidFill>
            <a:srgbClr val="FDE4C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4307780"/>
            <a:ext cx="253994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9968" y="4264283"/>
            <a:ext cx="1010894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PROJECT EVIDENCE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 — Insert an actual test or output screenshot here if available. Use a confirmed result from the final application, not a representative mock-up.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826"/>
            <a:ext cx="1097252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100" spc="-62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WHAT MUST BE VERIFIED BEFORE FINAL SUBMISSION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1607503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Separate general AES concepts from facts that belong to the final application.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1780"/>
          <a:ext cx="10972526" cy="914400"/>
        </p:xfrm>
        <a:graphic>
          <a:graphicData uri="http://schemas.openxmlformats.org/drawingml/2006/table">
            <a:tbl>
              <a:tblPr/>
              <a:tblGrid>
                <a:gridCol w="3730631"/>
                <a:gridCol w="7241895"/>
              </a:tblGrid>
              <a:tr h="4038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84" kern="1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VERIFY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84" kern="1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EVIDENCE TO CONFIRM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Key size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Exact AES key size used by the final application.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Operating mode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Mode selected by the final application.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Key handling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How keys are generated, stored, and entered.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Initialization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Whether an IV or nonce is required and how it is handled.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Representation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How padding, encoding, and errors are handled.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Project evidence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Familjen Grotesk" pitchFamily="34" charset="0"/>
                          <a:ea typeface="Familjen Grotesk" pitchFamily="34" charset="-122"/>
                          <a:cs typeface="Familjen Grotesk" pitchFamily="34" charset="0"/>
                        </a:rPr>
                        <a:t>Replace placeholders with screenshots or confirmed details.</a:t>
                      </a:r>
                      <a:endParaRPr lang="en-US" sz="1400" dirty="0">
                        <a:latin typeface="Familjen Grotesk" charset="0"/>
                        <a:ea typeface="Familjen Grotesk" charset="0"/>
                        <a:cs typeface="Familjen Grotesk" charset="0"/>
                      </a:endParaRPr>
                    </a:p>
                  </a:txBody>
                  <a:tcPr marL="126997" marR="126997" marT="63498" marB="63498" anchor="ctr">
                    <a:lnL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028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780" y="2127329"/>
            <a:ext cx="1117572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0"/>
              </a:rPr>
              <a:t>KEY TAKEAWAY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12780" y="2440725"/>
            <a:ext cx="10566136" cy="1289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5400" spc="-108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PROTECT THE DATA.</a:t>
            </a:r>
            <a:endParaRPr lang="en-US" sz="54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5400" spc="-108" kern="100" dirty="0">
                <a:solidFill>
                  <a:srgbClr val="000000"/>
                </a:solidFill>
                <a:latin typeface="Archivo Black" pitchFamily="34" charset="0"/>
                <a:ea typeface="Archivo Black" pitchFamily="34" charset="-122"/>
                <a:cs typeface="Archivo Black" pitchFamily="34" charset="0"/>
              </a:rPr>
              <a:t>PROVE THE ROUND TRIP.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12780" y="3868638"/>
            <a:ext cx="5054474" cy="122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AES protects confidentiality by transforming plaintext into ciphertext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Encryption and decryption depend on matching keys and parameters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24442" y="3868638"/>
            <a:ext cx="5054474" cy="122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A clear data-flow diagram explains the project better than dense implementation prose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The final presentation should distinguish verified implementation facts from general AES concepts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780" y="5463838"/>
            <a:ext cx="1056613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0"/>
              </a:rPr>
              <a:t>Next step: confirm the final mode and key size, then add screenshots from the application.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2026-10-22T05:12:06Z</dcterms:created>
  <dcterms:modified xsi:type="dcterms:W3CDTF">2026-10-22T05:12:06Z</dcterms:modified>
</cp:coreProperties>
</file>